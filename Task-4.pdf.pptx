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931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72AB9-9A0D-1767-5612-BFA1390D1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2CC58-2109-BBE9-15E2-0B44E6C7C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4C244-0B67-4B0A-77E0-D22710465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35C4A-8506-45E5-9708-D3C10756CCB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8A914-130A-AA4E-B31E-38E864CAB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5B319-963F-3A0F-8B48-96B52EBB1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EF3B2-9D92-4E66-9334-BD1DB41DB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499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7FD08-9EB9-7AC0-2A88-8625C9242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7AA12-F2E3-6AFF-82B5-21846960A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937D8-D092-47D1-5875-2FFF8B7BC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35C4A-8506-45E5-9708-D3C10756CCB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C8DDF-AD7D-CCE1-305C-8C61C66ED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35470-214B-5DEF-C047-DEE2A368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EF3B2-9D92-4E66-9334-BD1DB41DB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293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CEE72-E011-36A5-A8E8-EA4B8EE63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18C99-AAD7-F60F-AF99-0483BCF04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75223-B817-FD4E-271C-32A2D0F73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35C4A-8506-45E5-9708-D3C10756CCB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4E5C7-AB88-C16D-4D61-080EE7B1B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B15D01-38D2-F713-4482-BFA0E4001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EF3B2-9D92-4E66-9334-BD1DB41DB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438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A6C31-5060-F64F-14B2-5FAF86F75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459ED-EE67-3C73-C632-E044550F0C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237F9-0339-7735-9D37-08C9B635FD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9F29F-1358-3109-4B9B-029D34212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35C4A-8506-45E5-9708-D3C10756CCB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89B58-B88C-F15B-6518-09ABD14E5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93AFF-1696-B652-DB17-16F49155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EF3B2-9D92-4E66-9334-BD1DB41DB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171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456B8-06F6-7C72-8C43-C072057D8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F08CC-7577-52A8-76ED-87CBD6F24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70A555-6D5C-9A8E-2FC9-36CCD7F08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79A40F-E264-DD7F-20B3-AC04C63EFF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198A20-04BA-8076-36C8-F8F595DDF6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EA53D8-4FCA-6DFF-9FB5-41BE9E638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35C4A-8506-45E5-9708-D3C10756CCB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35BCDB-B1E2-A5E2-F80F-B5F0DE7C5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B36AE3-96C2-2924-91F7-5EA2AF0C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EF3B2-9D92-4E66-9334-BD1DB41DB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634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A9291-6312-2E08-EA5F-EA45474C9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FDDB6F-4C15-42E5-F6B5-B89F98061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35C4A-8506-45E5-9708-D3C10756CCB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534D6F-1280-75F1-8121-5C7A4C4FC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7B9F8F-9E33-23A9-250C-5E41A2BD8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EF3B2-9D92-4E66-9334-BD1DB41DB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62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466D0A-927C-1DF2-4B47-21FDDEC64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35C4A-8506-45E5-9708-D3C10756CCB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BA1BD8-D472-2F99-C69C-C5BFDBBDE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C8EDF-1F24-0085-C07A-D53F3B18A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EF3B2-9D92-4E66-9334-BD1DB41DB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228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416E7-AF54-EC80-7655-E5CF7F052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0D1B6-EE4A-3E5F-12F9-54A8ABDD2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3DD68A-4F2E-E35A-4B8F-DBE274528F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0FAC0C-3BC3-4007-8D6A-5A6AF0D9E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35C4A-8506-45E5-9708-D3C10756CCB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F2E8E0-CDC0-5A7B-4F5E-0A78C9777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3CBD6-9E4D-06B8-99C2-CD82B838A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EF3B2-9D92-4E66-9334-BD1DB41DB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578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A8772-B560-2170-F4AE-F358AAD3D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42AFEE-E1B0-1371-1EC6-C6F11B2171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F6F2F0-A431-182F-E3F0-0A1852EFF5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F33770-CC39-69C0-ECC2-289CCD712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35C4A-8506-45E5-9708-D3C10756CCB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71AAD-E789-4FC3-496D-73023B8D0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0DF6A-A95B-96A2-EB73-2AC6E5306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EF3B2-9D92-4E66-9334-BD1DB41DB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35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1C946-A503-564F-CC35-58DEF39B6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D0E0DF-AF92-70F9-2B47-A538ACFAC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830EA-F244-D8B2-433A-9813A2A08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35C4A-8506-45E5-9708-D3C10756CCB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4ACD0-0C40-7780-C233-3C38339D3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3407A-7FC1-38B9-23D4-7ACC3A14C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EF3B2-9D92-4E66-9334-BD1DB41DB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109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126904-19A6-076E-4167-2EA204DBEF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43EF86-F4BF-26A1-137E-267BC86D98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43DA9-6D1A-B0E3-1186-7C1F45362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35C4A-8506-45E5-9708-D3C10756CCB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014DF-E50F-0026-DE2C-3B2BEE990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15D9B-8646-9F56-C9D9-7BBB4A5B9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EF3B2-9D92-4E66-9334-BD1DB41DB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386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1D9818-7460-BB75-F1C3-0D280F99F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0DBF3-8D57-0D95-1025-B62FDE6C5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53A77-F177-4B0F-CA9B-EDC67F2B30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35C4A-8506-45E5-9708-D3C10756CCBE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524A2-9DE3-2D69-D08B-7769645CC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BCF92-A083-E588-9E42-866CD531F3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EF3B2-9D92-4E66-9334-BD1DB41DB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704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A4107-8E8E-EAFE-18A6-7072724DC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169" y="201337"/>
            <a:ext cx="11778143" cy="6501468"/>
          </a:xfrm>
        </p:spPr>
        <p:txBody>
          <a:bodyPr/>
          <a:lstStyle/>
          <a:p>
            <a:pPr algn="ctr"/>
            <a:r>
              <a:rPr lang="en-IN" b="1" u="sng" dirty="0">
                <a:solidFill>
                  <a:schemeClr val="accent1">
                    <a:lumMod val="75000"/>
                  </a:schemeClr>
                </a:solidFill>
                <a:latin typeface="Bahnschrift Condensed" panose="020B0502040204020203" pitchFamily="34" charset="0"/>
              </a:rPr>
              <a:t>Name: Bilqees Momin</a:t>
            </a:r>
            <a:br>
              <a:rPr lang="en-IN" b="1" dirty="0">
                <a:latin typeface="Bahnschrift Condensed" panose="020B0502040204020203" pitchFamily="34" charset="0"/>
              </a:rPr>
            </a:br>
            <a:r>
              <a:rPr lang="en-IN" b="1" dirty="0">
                <a:latin typeface="Bahnschrift Condensed" panose="020B0502040204020203" pitchFamily="34" charset="0"/>
              </a:rPr>
              <a:t>Role: Data Analyst Intern</a:t>
            </a:r>
            <a:br>
              <a:rPr lang="en-IN" b="1" dirty="0">
                <a:latin typeface="Bahnschrift Condensed" panose="020B0502040204020203" pitchFamily="34" charset="0"/>
              </a:rPr>
            </a:br>
            <a:r>
              <a:rPr lang="en-IN" b="1" dirty="0">
                <a:latin typeface="Bahnschrift Condensed" panose="020B0502040204020203" pitchFamily="34" charset="0"/>
              </a:rPr>
              <a:t>Tool Used: Power BI</a:t>
            </a:r>
            <a:br>
              <a:rPr lang="en-IN" b="1" dirty="0">
                <a:latin typeface="Bahnschrift Condensed" panose="020B0502040204020203" pitchFamily="34" charset="0"/>
              </a:rPr>
            </a:br>
            <a:r>
              <a:rPr lang="en-IN" b="1" dirty="0">
                <a:latin typeface="Bahnschrift Condensed" panose="020B0502040204020203" pitchFamily="34" charset="0"/>
              </a:rPr>
              <a:t>Dataset Used: Superstore Sales Dataset (Kaggle)Project Type: Sales &amp; Profit Analysis Dashboard Date: 17/11/25</a:t>
            </a:r>
            <a:br>
              <a:rPr lang="en-IN" b="1" dirty="0">
                <a:latin typeface="Bahnschrift Condensed" panose="020B0502040204020203" pitchFamily="34" charset="0"/>
              </a:rPr>
            </a:br>
            <a:endParaRPr lang="en-IN" b="1" dirty="0">
              <a:latin typeface="Bahnschrift Condensed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CD23E0-BE98-4320-1C64-9F162010D5BF}"/>
              </a:ext>
            </a:extLst>
          </p:cNvPr>
          <p:cNvSpPr/>
          <p:nvPr/>
        </p:nvSpPr>
        <p:spPr>
          <a:xfrm>
            <a:off x="145409" y="201337"/>
            <a:ext cx="11839662" cy="6455326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42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C1E622-BC97-15F0-1138-47A0A82EA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47" y="1109444"/>
            <a:ext cx="11781706" cy="463911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4EA6325-9B05-BB76-039C-E94B1C4E5679}"/>
              </a:ext>
            </a:extLst>
          </p:cNvPr>
          <p:cNvSpPr/>
          <p:nvPr/>
        </p:nvSpPr>
        <p:spPr>
          <a:xfrm>
            <a:off x="145409" y="201337"/>
            <a:ext cx="11839662" cy="6455326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784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3B1B1-F23F-3425-2C0E-D39E7A04B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41" y="457302"/>
            <a:ext cx="11492917" cy="5943396"/>
          </a:xfrm>
        </p:spPr>
        <p:txBody>
          <a:bodyPr>
            <a:normAutofit/>
          </a:bodyPr>
          <a:lstStyle/>
          <a:p>
            <a:r>
              <a:rPr lang="en-IN" sz="3200" b="1" u="sng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</a:rPr>
              <a:t>Slide 1 — Dashboard Project</a:t>
            </a:r>
            <a:br>
              <a:rPr lang="en-IN" sz="3000" b="1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</a:rPr>
            </a:br>
            <a:br>
              <a:rPr lang="en-IN" sz="3000" dirty="0">
                <a:latin typeface="Book Antiqua" panose="02040602050305030304" pitchFamily="18" charset="0"/>
              </a:rPr>
            </a:br>
            <a:r>
              <a:rPr lang="en-IN" sz="3000" dirty="0">
                <a:latin typeface="Book Antiqua" panose="02040602050305030304" pitchFamily="18" charset="0"/>
              </a:rPr>
              <a:t>Overview Title: Sales &amp; Profit Analysis Dashboard Tool Used: Power </a:t>
            </a:r>
            <a:r>
              <a:rPr lang="en-IN" sz="3000" dirty="0" err="1">
                <a:latin typeface="Book Antiqua" panose="02040602050305030304" pitchFamily="18" charset="0"/>
              </a:rPr>
              <a:t>BIDataset</a:t>
            </a:r>
            <a:r>
              <a:rPr lang="en-IN" sz="3000" dirty="0">
                <a:latin typeface="Book Antiqua" panose="02040602050305030304" pitchFamily="18" charset="0"/>
              </a:rPr>
              <a:t>: Superstore Sales Dataset </a:t>
            </a:r>
            <a:r>
              <a:rPr lang="en-IN" sz="3000" dirty="0" err="1">
                <a:latin typeface="Book Antiqua" panose="02040602050305030304" pitchFamily="18" charset="0"/>
              </a:rPr>
              <a:t>Objective:To</a:t>
            </a:r>
            <a:r>
              <a:rPr lang="en-IN" sz="3000" dirty="0">
                <a:latin typeface="Book Antiqua" panose="02040602050305030304" pitchFamily="18" charset="0"/>
              </a:rPr>
              <a:t> design an interactive dashboard for business stakeholders showing key business insights using sales, profit, orders, and product performance.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E68955-8354-49ED-9176-6D7E1CB50C75}"/>
              </a:ext>
            </a:extLst>
          </p:cNvPr>
          <p:cNvSpPr/>
          <p:nvPr/>
        </p:nvSpPr>
        <p:spPr>
          <a:xfrm>
            <a:off x="145409" y="201337"/>
            <a:ext cx="11839662" cy="6455326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875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B2DB8-C87E-4B38-B07B-6941D6D6B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661"/>
            <a:ext cx="10515600" cy="6186677"/>
          </a:xfrm>
        </p:spPr>
        <p:txBody>
          <a:bodyPr>
            <a:normAutofit/>
          </a:bodyPr>
          <a:lstStyle/>
          <a:p>
            <a:r>
              <a:rPr lang="en-IN" sz="3200" b="1" u="sng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</a:rPr>
              <a:t>Slide 2 — Dashboard KPIs</a:t>
            </a:r>
            <a:br>
              <a:rPr lang="en-IN" sz="3000" b="1" u="sng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</a:rPr>
            </a:br>
            <a:r>
              <a:rPr lang="en-IN" sz="3000" b="1" u="sng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</a:rPr>
              <a:t> </a:t>
            </a:r>
            <a:br>
              <a:rPr lang="en-IN" sz="3000" dirty="0">
                <a:latin typeface="Book Antiqua" panose="02040602050305030304" pitchFamily="18" charset="0"/>
              </a:rPr>
            </a:br>
            <a:r>
              <a:rPr lang="en-IN" sz="3000" dirty="0">
                <a:latin typeface="Book Antiqua" panose="02040602050305030304" pitchFamily="18" charset="0"/>
              </a:rPr>
              <a:t>This dashboard highlights the following </a:t>
            </a:r>
            <a:br>
              <a:rPr lang="en-IN" sz="3000" dirty="0">
                <a:latin typeface="Book Antiqua" panose="02040602050305030304" pitchFamily="18" charset="0"/>
              </a:rPr>
            </a:br>
            <a:r>
              <a:rPr lang="en-IN" sz="3000" dirty="0" err="1">
                <a:latin typeface="Book Antiqua" panose="02040602050305030304" pitchFamily="18" charset="0"/>
              </a:rPr>
              <a:t>KPIs:Total</a:t>
            </a:r>
            <a:r>
              <a:rPr lang="en-IN" sz="3000" dirty="0">
                <a:latin typeface="Book Antiqua" panose="02040602050305030304" pitchFamily="18" charset="0"/>
              </a:rPr>
              <a:t> Sales: 887.92K</a:t>
            </a:r>
            <a:br>
              <a:rPr lang="en-IN" sz="3000" dirty="0">
                <a:latin typeface="Book Antiqua" panose="02040602050305030304" pitchFamily="18" charset="0"/>
              </a:rPr>
            </a:br>
            <a:r>
              <a:rPr lang="en-IN" sz="3000" dirty="0">
                <a:latin typeface="Book Antiqua" panose="02040602050305030304" pitchFamily="18" charset="0"/>
              </a:rPr>
              <a:t>Total Profit: 108.80KTotal </a:t>
            </a:r>
            <a:br>
              <a:rPr lang="en-IN" sz="3000" dirty="0">
                <a:latin typeface="Book Antiqua" panose="02040602050305030304" pitchFamily="18" charset="0"/>
              </a:rPr>
            </a:br>
            <a:r>
              <a:rPr lang="en-IN" sz="3000" dirty="0">
                <a:latin typeface="Book Antiqua" panose="02040602050305030304" pitchFamily="18" charset="0"/>
              </a:rPr>
              <a:t>Quantity Sold: 15K</a:t>
            </a:r>
            <a:br>
              <a:rPr lang="en-IN" sz="3000" dirty="0">
                <a:latin typeface="Book Antiqua" panose="02040602050305030304" pitchFamily="18" charset="0"/>
              </a:rPr>
            </a:br>
            <a:r>
              <a:rPr lang="en-IN" sz="3000" dirty="0">
                <a:latin typeface="Book Antiqua" panose="02040602050305030304" pitchFamily="18" charset="0"/>
              </a:rPr>
              <a:t>Total Orders: 4042</a:t>
            </a:r>
            <a:br>
              <a:rPr lang="en-IN" sz="3000" dirty="0">
                <a:latin typeface="Book Antiqua" panose="02040602050305030304" pitchFamily="18" charset="0"/>
              </a:rPr>
            </a:br>
            <a:r>
              <a:rPr lang="en-IN" sz="3000" dirty="0">
                <a:latin typeface="Book Antiqua" panose="02040602050305030304" pitchFamily="18" charset="0"/>
              </a:rPr>
              <a:t>These KPIs help understand overall business performance.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8B3329-C395-3D83-0CE8-104E37F968DD}"/>
              </a:ext>
            </a:extLst>
          </p:cNvPr>
          <p:cNvSpPr/>
          <p:nvPr/>
        </p:nvSpPr>
        <p:spPr>
          <a:xfrm>
            <a:off x="145409" y="201337"/>
            <a:ext cx="11839662" cy="6455326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941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A3B0B-D063-DF52-E7CF-899298D9B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340" y="426085"/>
            <a:ext cx="11069320" cy="6169899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</a:rPr>
              <a:t>Slide 3 — Visuals Included</a:t>
            </a:r>
            <a:br>
              <a:rPr lang="en-US" sz="3000" b="1" dirty="0">
                <a:latin typeface="Book Antiqua" panose="02040602050305030304" pitchFamily="18" charset="0"/>
              </a:rPr>
            </a:br>
            <a:r>
              <a:rPr lang="en-US" sz="3000" b="1" dirty="0">
                <a:latin typeface="Book Antiqua" panose="02040602050305030304" pitchFamily="18" charset="0"/>
              </a:rPr>
              <a:t> </a:t>
            </a:r>
            <a:br>
              <a:rPr lang="en-US" sz="3000" dirty="0">
                <a:latin typeface="Book Antiqua" panose="02040602050305030304" pitchFamily="18" charset="0"/>
              </a:rPr>
            </a:br>
            <a:r>
              <a:rPr lang="en-US" sz="3000" dirty="0">
                <a:latin typeface="Book Antiqua" panose="02040602050305030304" pitchFamily="18" charset="0"/>
              </a:rPr>
              <a:t>The dashboard contains the following visuals: Line Chart-Sum of Sales by Year and Month Shows sales trends over time. Map Visual Sum of Profit by Region Shows profit distribution across different geographic regions. Bar Chart-Sum of Sales by Product Name Highlights top-selling products. Donut Chart Sum of Sales by Ship Mode Shows contribution of different shipping modes (Standard, Second Class, First Class, Same Day).</a:t>
            </a:r>
            <a:endParaRPr lang="en-IN" sz="3000" dirty="0">
              <a:latin typeface="Book Antiqua" panose="0204060205030503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2F9C2A-19FE-117E-C594-99CF7645AC2B}"/>
              </a:ext>
            </a:extLst>
          </p:cNvPr>
          <p:cNvSpPr/>
          <p:nvPr/>
        </p:nvSpPr>
        <p:spPr>
          <a:xfrm>
            <a:off x="145409" y="201337"/>
            <a:ext cx="11839662" cy="6455326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631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574BD-BFB9-0588-E88A-A0F70E1B6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0412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</a:rPr>
              <a:t>Slide 4 — Filters (Slicers)</a:t>
            </a:r>
            <a:br>
              <a:rPr lang="en-US" sz="3200" b="1" u="sng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</a:rPr>
            </a:br>
            <a:br>
              <a:rPr lang="en-US" sz="3000" dirty="0">
                <a:latin typeface="Book Antiqua" panose="02040602050305030304" pitchFamily="18" charset="0"/>
              </a:rPr>
            </a:br>
            <a:r>
              <a:rPr lang="en-US" sz="3000" dirty="0">
                <a:latin typeface="Book Antiqua" panose="02040602050305030304" pitchFamily="18" charset="0"/>
              </a:rPr>
              <a:t>Used The dashboard is fully interactive using </a:t>
            </a:r>
            <a:r>
              <a:rPr lang="en-US" sz="3000" dirty="0" err="1">
                <a:latin typeface="Book Antiqua" panose="02040602050305030304" pitchFamily="18" charset="0"/>
              </a:rPr>
              <a:t>slicers:Category</a:t>
            </a:r>
            <a:r>
              <a:rPr lang="en-US" sz="3000" dirty="0">
                <a:latin typeface="Book Antiqua" panose="02040602050305030304" pitchFamily="18" charset="0"/>
              </a:rPr>
              <a:t>: Furniture, Office Supplies, TechnologyRegion: Central, East, South, West Segment: Consumer, Corporate, Home Office These slicers help stakeholders explore data easily.</a:t>
            </a:r>
            <a:endParaRPr lang="en-IN" sz="3000" dirty="0">
              <a:latin typeface="Book Antiqua" panose="0204060205030503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1DFBCE-7723-4727-114A-24CF2D7035DD}"/>
              </a:ext>
            </a:extLst>
          </p:cNvPr>
          <p:cNvSpPr/>
          <p:nvPr/>
        </p:nvSpPr>
        <p:spPr>
          <a:xfrm>
            <a:off x="145409" y="201337"/>
            <a:ext cx="11839662" cy="6455326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320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947E6-6F2A-1567-DBDE-A99828918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93730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</a:rPr>
              <a:t>Slide 5 — Key Insights From the dashboard:</a:t>
            </a:r>
            <a:br>
              <a:rPr lang="en-US" sz="3000" b="1" u="sng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</a:rPr>
            </a:br>
            <a:br>
              <a:rPr lang="en-US" sz="3000" b="1" dirty="0">
                <a:latin typeface="Book Antiqua" panose="02040602050305030304" pitchFamily="18" charset="0"/>
              </a:rPr>
            </a:br>
            <a:r>
              <a:rPr lang="en-US" sz="3000" dirty="0">
                <a:latin typeface="Book Antiqua" panose="02040602050305030304" pitchFamily="18" charset="0"/>
              </a:rPr>
              <a:t>Sales and profit increased significantly during 2016–2017.The highest profit is generated by the Central &amp; East </a:t>
            </a:r>
            <a:r>
              <a:rPr lang="en-US" sz="3000" dirty="0" err="1">
                <a:latin typeface="Book Antiqua" panose="02040602050305030304" pitchFamily="18" charset="0"/>
              </a:rPr>
              <a:t>regions.The</a:t>
            </a:r>
            <a:r>
              <a:rPr lang="en-US" sz="3000" dirty="0">
                <a:latin typeface="Book Antiqua" panose="02040602050305030304" pitchFamily="18" charset="0"/>
              </a:rPr>
              <a:t> top-selling products </a:t>
            </a:r>
            <a:r>
              <a:rPr lang="en-US" sz="3000" dirty="0" err="1">
                <a:latin typeface="Book Antiqua" panose="02040602050305030304" pitchFamily="18" charset="0"/>
              </a:rPr>
              <a:t>include.Standard</a:t>
            </a:r>
            <a:r>
              <a:rPr lang="en-US" sz="3000" dirty="0">
                <a:latin typeface="Book Antiqua" panose="02040602050305030304" pitchFamily="18" charset="0"/>
              </a:rPr>
              <a:t> Class shipping contributes the highest sales share (57.5%).</a:t>
            </a:r>
            <a:endParaRPr lang="en-IN" sz="3000" dirty="0">
              <a:latin typeface="Book Antiqua" panose="0204060205030503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30B133-63CF-CEB9-B907-AEDA112FD195}"/>
              </a:ext>
            </a:extLst>
          </p:cNvPr>
          <p:cNvSpPr/>
          <p:nvPr/>
        </p:nvSpPr>
        <p:spPr>
          <a:xfrm>
            <a:off x="145409" y="201337"/>
            <a:ext cx="11839662" cy="6455326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9748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80052-4CD9-C394-BD0E-BA50750F9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01451"/>
          </a:xfrm>
        </p:spPr>
        <p:txBody>
          <a:bodyPr>
            <a:normAutofit/>
          </a:bodyPr>
          <a:lstStyle/>
          <a:p>
            <a:r>
              <a:rPr lang="en-IN" sz="3200" b="1" u="sng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</a:rPr>
              <a:t>Slide 6 — Conclusion</a:t>
            </a:r>
            <a:br>
              <a:rPr lang="en-IN" sz="3200" b="1" u="sng" dirty="0">
                <a:solidFill>
                  <a:schemeClr val="accent1">
                    <a:lumMod val="75000"/>
                  </a:schemeClr>
                </a:solidFill>
                <a:latin typeface="Book Antiqua" panose="02040602050305030304" pitchFamily="18" charset="0"/>
              </a:rPr>
            </a:br>
            <a:br>
              <a:rPr lang="en-IN" sz="3000" dirty="0">
                <a:latin typeface="Book Antiqua" panose="02040602050305030304" pitchFamily="18" charset="0"/>
              </a:rPr>
            </a:br>
            <a:r>
              <a:rPr lang="en-IN" sz="3000" dirty="0">
                <a:latin typeface="Book Antiqua" panose="02040602050305030304" pitchFamily="18" charset="0"/>
              </a:rPr>
              <a:t>The dashboard provides clear insights </a:t>
            </a:r>
            <a:r>
              <a:rPr lang="en-IN" sz="3000" dirty="0" err="1">
                <a:latin typeface="Book Antiqua" panose="02040602050305030304" pitchFamily="18" charset="0"/>
              </a:rPr>
              <a:t>into:Sales</a:t>
            </a:r>
            <a:r>
              <a:rPr lang="en-IN" sz="3000" dirty="0">
                <a:latin typeface="Book Antiqua" panose="02040602050305030304" pitchFamily="18" charset="0"/>
              </a:rPr>
              <a:t> </a:t>
            </a:r>
            <a:r>
              <a:rPr lang="en-IN" sz="3000" dirty="0" err="1">
                <a:latin typeface="Book Antiqua" panose="02040602050305030304" pitchFamily="18" charset="0"/>
              </a:rPr>
              <a:t>trendsRegional</a:t>
            </a:r>
            <a:r>
              <a:rPr lang="en-IN" sz="3000" dirty="0">
                <a:latin typeface="Book Antiqua" panose="02040602050305030304" pitchFamily="18" charset="0"/>
              </a:rPr>
              <a:t> </a:t>
            </a:r>
            <a:r>
              <a:rPr lang="en-IN" sz="3000" dirty="0" err="1">
                <a:latin typeface="Book Antiqua" panose="02040602050305030304" pitchFamily="18" charset="0"/>
              </a:rPr>
              <a:t>performanceProduct</a:t>
            </a:r>
            <a:r>
              <a:rPr lang="en-IN" sz="3000" dirty="0">
                <a:latin typeface="Book Antiqua" panose="02040602050305030304" pitchFamily="18" charset="0"/>
              </a:rPr>
              <a:t> </a:t>
            </a:r>
            <a:r>
              <a:rPr lang="en-IN" sz="3000" dirty="0" err="1">
                <a:latin typeface="Book Antiqua" panose="02040602050305030304" pitchFamily="18" charset="0"/>
              </a:rPr>
              <a:t>profitabilityShipping</a:t>
            </a:r>
            <a:r>
              <a:rPr lang="en-IN" sz="3000" dirty="0">
                <a:latin typeface="Book Antiqua" panose="02040602050305030304" pitchFamily="18" charset="0"/>
              </a:rPr>
              <a:t> mode </a:t>
            </a:r>
            <a:r>
              <a:rPr lang="en-IN" sz="3000" dirty="0" err="1">
                <a:latin typeface="Book Antiqua" panose="02040602050305030304" pitchFamily="18" charset="0"/>
              </a:rPr>
              <a:t>contributionThese</a:t>
            </a:r>
            <a:r>
              <a:rPr lang="en-IN" sz="3000" dirty="0">
                <a:latin typeface="Book Antiqua" panose="02040602050305030304" pitchFamily="18" charset="0"/>
              </a:rPr>
              <a:t> insights help management make informed business decisions regarding marketing, inventory planning, and customer segments.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4BFEDB-AE75-FD58-035E-E4807875D8D8}"/>
              </a:ext>
            </a:extLst>
          </p:cNvPr>
          <p:cNvSpPr/>
          <p:nvPr/>
        </p:nvSpPr>
        <p:spPr>
          <a:xfrm>
            <a:off x="145409" y="201337"/>
            <a:ext cx="11839662" cy="6455326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063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C4400B-E611-1CB7-8987-2BFDE51B0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429" y="304800"/>
            <a:ext cx="10371676" cy="62484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608BC78-D8B8-7F00-A9EF-FC5971323759}"/>
              </a:ext>
            </a:extLst>
          </p:cNvPr>
          <p:cNvSpPr/>
          <p:nvPr/>
        </p:nvSpPr>
        <p:spPr>
          <a:xfrm>
            <a:off x="145409" y="201337"/>
            <a:ext cx="11839662" cy="6455326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100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345</Words>
  <Application>Microsoft Office PowerPoint</Application>
  <PresentationFormat>Widescreen</PresentationFormat>
  <Paragraphs>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Bahnschrift Condensed</vt:lpstr>
      <vt:lpstr>Book Antiqua</vt:lpstr>
      <vt:lpstr>Calibri</vt:lpstr>
      <vt:lpstr>Calibri Light</vt:lpstr>
      <vt:lpstr>Office Theme</vt:lpstr>
      <vt:lpstr>Name: Bilqees Momin Role: Data Analyst Intern Tool Used: Power BI Dataset Used: Superstore Sales Dataset (Kaggle)Project Type: Sales &amp; Profit Analysis Dashboard Date: 17/11/25 </vt:lpstr>
      <vt:lpstr>PowerPoint Presentation</vt:lpstr>
      <vt:lpstr>Slide 1 — Dashboard Project  Overview Title: Sales &amp; Profit Analysis Dashboard Tool Used: Power BIDataset: Superstore Sales Dataset Objective:To design an interactive dashboard for business stakeholders showing key business insights using sales, profit, orders, and product performance.</vt:lpstr>
      <vt:lpstr>Slide 2 — Dashboard KPIs   This dashboard highlights the following  KPIs:Total Sales: 887.92K Total Profit: 108.80KTotal  Quantity Sold: 15K Total Orders: 4042 These KPIs help understand overall business performance.</vt:lpstr>
      <vt:lpstr>Slide 3 — Visuals Included   The dashboard contains the following visuals: Line Chart-Sum of Sales by Year and Month Shows sales trends over time. Map Visual Sum of Profit by Region Shows profit distribution across different geographic regions. Bar Chart-Sum of Sales by Product Name Highlights top-selling products. Donut Chart Sum of Sales by Ship Mode Shows contribution of different shipping modes (Standard, Second Class, First Class, Same Day).</vt:lpstr>
      <vt:lpstr>Slide 4 — Filters (Slicers)  Used The dashboard is fully interactive using slicers:Category: Furniture, Office Supplies, TechnologyRegion: Central, East, South, West Segment: Consumer, Corporate, Home Office These slicers help stakeholders explore data easily.</vt:lpstr>
      <vt:lpstr>Slide 5 — Key Insights From the dashboard:  Sales and profit increased significantly during 2016–2017.The highest profit is generated by the Central &amp; East regions.The top-selling products include.Standard Class shipping contributes the highest sales share (57.5%).</vt:lpstr>
      <vt:lpstr>Slide 6 — Conclusion  The dashboard provides clear insights into:Sales trendsRegional performanceProduct profitabilityShipping mode contributionThese insights help management make informed business decisions regarding marketing, inventory planning, and customer segments.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KULSUM MOMIN</dc:creator>
  <cp:lastModifiedBy>KULSUM MOMIN</cp:lastModifiedBy>
  <cp:revision>1</cp:revision>
  <dcterms:created xsi:type="dcterms:W3CDTF">2025-11-18T16:12:25Z</dcterms:created>
  <dcterms:modified xsi:type="dcterms:W3CDTF">2025-11-18T17:09:10Z</dcterms:modified>
</cp:coreProperties>
</file>